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09728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KeibaDataAnalizer ER図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SQLite / Keiba.sql（外部キー 16本、すべて ON DELETE CASCADE）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490472" y="1152144"/>
            <a:ext cx="15544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1152144"/>
            <a:ext cx="2743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53512" y="2020824"/>
            <a:ext cx="15544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53512" y="1152144"/>
            <a:ext cx="0" cy="8686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26080" y="1152144"/>
            <a:ext cx="2743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53512" y="2020824"/>
            <a:ext cx="155448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2926080" y="2020824"/>
            <a:ext cx="27432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953512" y="2020824"/>
            <a:ext cx="15544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53512" y="2020824"/>
            <a:ext cx="0" cy="8686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26080" y="2889504"/>
            <a:ext cx="2743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2020824"/>
            <a:ext cx="2743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16552" y="1152144"/>
            <a:ext cx="0" cy="8686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16552" y="1152144"/>
            <a:ext cx="15544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0" y="2020824"/>
            <a:ext cx="2743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16552" y="2020824"/>
            <a:ext cx="0" cy="8686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16552" y="2889504"/>
            <a:ext cx="15544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89120" y="2020824"/>
            <a:ext cx="2743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16552" y="2020824"/>
            <a:ext cx="161848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52160" y="1152144"/>
            <a:ext cx="2743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79592" y="1152144"/>
            <a:ext cx="15544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75120" y="1435608"/>
            <a:ext cx="0" cy="3017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52160" y="2889504"/>
            <a:ext cx="5943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11596" y="2889504"/>
            <a:ext cx="12344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75120" y="2304288"/>
            <a:ext cx="0" cy="3017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0" y="2020824"/>
            <a:ext cx="2743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42632" y="1152144"/>
            <a:ext cx="0" cy="8686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42632" y="1152144"/>
            <a:ext cx="15544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0" y="2020824"/>
            <a:ext cx="27432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7342632" y="2020824"/>
            <a:ext cx="155448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8138160" y="2304288"/>
            <a:ext cx="0" cy="3017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38160" y="3172968"/>
            <a:ext cx="0" cy="3017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2304288"/>
            <a:ext cx="0" cy="3017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89120" y="2889504"/>
            <a:ext cx="59436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37" name="Shape 35"/>
          <p:cNvSpPr/>
          <p:nvPr/>
        </p:nvSpPr>
        <p:spPr>
          <a:xfrm>
            <a:off x="4448556" y="2112264"/>
            <a:ext cx="0" cy="77724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38" name="Shape 36"/>
          <p:cNvSpPr/>
          <p:nvPr/>
        </p:nvSpPr>
        <p:spPr>
          <a:xfrm>
            <a:off x="4448556" y="2112264"/>
            <a:ext cx="158648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39" name="Shape 37"/>
          <p:cNvSpPr/>
          <p:nvPr/>
        </p:nvSpPr>
        <p:spPr>
          <a:xfrm>
            <a:off x="5852160" y="3758184"/>
            <a:ext cx="9144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40" name="Shape 38"/>
          <p:cNvSpPr/>
          <p:nvPr/>
        </p:nvSpPr>
        <p:spPr>
          <a:xfrm>
            <a:off x="5943600" y="2176272"/>
            <a:ext cx="0" cy="1581912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41" name="Shape 39"/>
          <p:cNvSpPr/>
          <p:nvPr/>
        </p:nvSpPr>
        <p:spPr>
          <a:xfrm>
            <a:off x="5943600" y="2176272"/>
            <a:ext cx="9144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42" name="Shape 40"/>
          <p:cNvSpPr/>
          <p:nvPr/>
        </p:nvSpPr>
        <p:spPr>
          <a:xfrm>
            <a:off x="4389120" y="3758184"/>
            <a:ext cx="9144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43" name="Shape 41"/>
          <p:cNvSpPr/>
          <p:nvPr/>
        </p:nvSpPr>
        <p:spPr>
          <a:xfrm>
            <a:off x="4480560" y="2240280"/>
            <a:ext cx="0" cy="1517904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44" name="Shape 42"/>
          <p:cNvSpPr/>
          <p:nvPr/>
        </p:nvSpPr>
        <p:spPr>
          <a:xfrm>
            <a:off x="4480560" y="2240280"/>
            <a:ext cx="155448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45" name="Shape 43"/>
          <p:cNvSpPr/>
          <p:nvPr/>
        </p:nvSpPr>
        <p:spPr>
          <a:xfrm>
            <a:off x="3749040" y="3172968"/>
            <a:ext cx="0" cy="301752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46" name="Shape 44"/>
          <p:cNvSpPr/>
          <p:nvPr/>
        </p:nvSpPr>
        <p:spPr>
          <a:xfrm>
            <a:off x="4389120" y="3758184"/>
            <a:ext cx="9144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47" name="Shape 45"/>
          <p:cNvSpPr/>
          <p:nvPr/>
        </p:nvSpPr>
        <p:spPr>
          <a:xfrm>
            <a:off x="4480560" y="3758184"/>
            <a:ext cx="0" cy="9144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48" name="Shape 46"/>
          <p:cNvSpPr/>
          <p:nvPr/>
        </p:nvSpPr>
        <p:spPr>
          <a:xfrm>
            <a:off x="4480560" y="3849624"/>
            <a:ext cx="9144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49" name="Shape 47"/>
          <p:cNvSpPr/>
          <p:nvPr/>
        </p:nvSpPr>
        <p:spPr>
          <a:xfrm>
            <a:off x="1522476" y="3758184"/>
            <a:ext cx="12344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50" name="Shape 48"/>
          <p:cNvSpPr/>
          <p:nvPr/>
        </p:nvSpPr>
        <p:spPr>
          <a:xfrm>
            <a:off x="1522476" y="3758184"/>
            <a:ext cx="0" cy="9144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51" name="Shape 49"/>
          <p:cNvSpPr/>
          <p:nvPr/>
        </p:nvSpPr>
        <p:spPr>
          <a:xfrm>
            <a:off x="1463040" y="3849624"/>
            <a:ext cx="59436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ysDot"/>
          </a:ln>
        </p:spPr>
      </p:sp>
      <p:sp>
        <p:nvSpPr>
          <p:cNvPr id="52" name="Shape 50"/>
          <p:cNvSpPr/>
          <p:nvPr/>
        </p:nvSpPr>
        <p:spPr>
          <a:xfrm>
            <a:off x="182880" y="86868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7F6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82880" y="868680"/>
            <a:ext cx="1280160" cy="201168"/>
          </a:xfrm>
          <a:prstGeom prst="rect">
            <a:avLst/>
          </a:prstGeom>
          <a:solidFill>
            <a:srgbClr val="7F6000"/>
          </a:solidFill>
          <a:ln w="12700">
            <a:solidFill>
              <a:srgbClr val="7F6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82880" y="8686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Odds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28600" y="107899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OddsKubunId</a:t>
            </a:r>
            <a:endParaRPr lang="en-US" sz="650" dirty="0"/>
          </a:p>
        </p:txBody>
      </p:sp>
      <p:sp>
        <p:nvSpPr>
          <p:cNvPr id="56" name="Shape 54"/>
          <p:cNvSpPr/>
          <p:nvPr/>
        </p:nvSpPr>
        <p:spPr>
          <a:xfrm>
            <a:off x="1645920" y="86868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7F60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645920" y="868680"/>
            <a:ext cx="1280160" cy="201168"/>
          </a:xfrm>
          <a:prstGeom prst="rect">
            <a:avLst/>
          </a:prstGeom>
          <a:solidFill>
            <a:srgbClr val="7F6000"/>
          </a:solidFill>
          <a:ln w="12700">
            <a:solidFill>
              <a:srgbClr val="7F600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8686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OddsKubun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1691640" y="107899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RaceId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1645920" y="173736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645920" y="1737360"/>
            <a:ext cx="12801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645920" y="173736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RaceHaitou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1691640" y="194767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PK/FK Id (= Race.Id)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1645920" y="260604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645920" y="2606040"/>
            <a:ext cx="12801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645920" y="26060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RaceLapTime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1691640" y="281635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RaceId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3108960" y="173736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108960" y="1737360"/>
            <a:ext cx="12801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108960" y="173736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Race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3154680" y="194767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4572000" y="86868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572000" y="868680"/>
            <a:ext cx="12801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572000" y="8686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RaceKeika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4617720" y="107899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RaceId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4572000" y="260604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572000" y="2606040"/>
            <a:ext cx="12801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572000" y="26060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RaceHassouJoukyou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4617720" y="281635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RaceId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6035040" y="173736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035040" y="1737360"/>
            <a:ext cx="12801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035040" y="173736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6080760" y="194767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RaceId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KyousoubaId, KishuId, KyuushaId（推定）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6035040" y="86868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035040" y="868680"/>
            <a:ext cx="12801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035040" y="8686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ShussoubaKeika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6080760" y="107899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RaceKeikaId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ShussoubaId</a:t>
            </a:r>
            <a:endParaRPr lang="en-US" sz="650" dirty="0"/>
          </a:p>
        </p:txBody>
      </p:sp>
      <p:sp>
        <p:nvSpPr>
          <p:cNvPr id="88" name="Shape 86"/>
          <p:cNvSpPr/>
          <p:nvPr/>
        </p:nvSpPr>
        <p:spPr>
          <a:xfrm>
            <a:off x="6035040" y="260604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035040" y="2606040"/>
            <a:ext cx="12801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035040" y="26060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ShussoubaHassouJoukyou</a:t>
            </a:r>
            <a:endParaRPr lang="en-US" sz="650" dirty="0"/>
          </a:p>
        </p:txBody>
      </p:sp>
      <p:sp>
        <p:nvSpPr>
          <p:cNvPr id="91" name="Text 89"/>
          <p:cNvSpPr/>
          <p:nvPr/>
        </p:nvSpPr>
        <p:spPr>
          <a:xfrm>
            <a:off x="6080760" y="281635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RaceHassouJoukyouId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ShussoubaId</a:t>
            </a:r>
            <a:endParaRPr lang="en-US" sz="650" dirty="0"/>
          </a:p>
        </p:txBody>
      </p:sp>
      <p:sp>
        <p:nvSpPr>
          <p:cNvPr id="92" name="Shape 90"/>
          <p:cNvSpPr/>
          <p:nvPr/>
        </p:nvSpPr>
        <p:spPr>
          <a:xfrm>
            <a:off x="7498080" y="86868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498080" y="868680"/>
            <a:ext cx="12801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498080" y="8686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ShussoubaTsuukaJuni</a:t>
            </a:r>
            <a:endParaRPr lang="en-US" sz="650" dirty="0"/>
          </a:p>
        </p:txBody>
      </p:sp>
      <p:sp>
        <p:nvSpPr>
          <p:cNvPr id="95" name="Text 93"/>
          <p:cNvSpPr/>
          <p:nvPr/>
        </p:nvSpPr>
        <p:spPr>
          <a:xfrm>
            <a:off x="7543800" y="107899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ShussoubaId</a:t>
            </a:r>
            <a:endParaRPr lang="en-US" sz="650" dirty="0"/>
          </a:p>
        </p:txBody>
      </p:sp>
      <p:sp>
        <p:nvSpPr>
          <p:cNvPr id="96" name="Shape 94"/>
          <p:cNvSpPr/>
          <p:nvPr/>
        </p:nvSpPr>
        <p:spPr>
          <a:xfrm>
            <a:off x="7498080" y="173736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833C0B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498080" y="1737360"/>
            <a:ext cx="1280160" cy="201168"/>
          </a:xfrm>
          <a:prstGeom prst="rect">
            <a:avLst/>
          </a:prstGeom>
          <a:solidFill>
            <a:srgbClr val="833C0B"/>
          </a:solidFill>
          <a:ln w="12700">
            <a:solidFill>
              <a:srgbClr val="833C0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498080" y="173736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Choukyou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7543800" y="194767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PK/FK Id (= Shussouba.Id)</a:t>
            </a:r>
            <a:endParaRPr lang="en-US" sz="650" dirty="0"/>
          </a:p>
        </p:txBody>
      </p:sp>
      <p:sp>
        <p:nvSpPr>
          <p:cNvPr id="100" name="Shape 98"/>
          <p:cNvSpPr/>
          <p:nvPr/>
        </p:nvSpPr>
        <p:spPr>
          <a:xfrm>
            <a:off x="7498080" y="260604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833C0B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98080" y="2606040"/>
            <a:ext cx="1280160" cy="201168"/>
          </a:xfrm>
          <a:prstGeom prst="rect">
            <a:avLst/>
          </a:prstGeom>
          <a:solidFill>
            <a:srgbClr val="833C0B"/>
          </a:solidFill>
          <a:ln w="12700">
            <a:solidFill>
              <a:srgbClr val="833C0B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498080" y="26060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ChoukyouRireki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7543800" y="281635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ChoukyouId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7498080" y="347472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833C0B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498080" y="3474720"/>
            <a:ext cx="1280160" cy="201168"/>
          </a:xfrm>
          <a:prstGeom prst="rect">
            <a:avLst/>
          </a:prstGeom>
          <a:solidFill>
            <a:srgbClr val="833C0B"/>
          </a:solidFill>
          <a:ln w="12700">
            <a:solidFill>
              <a:srgbClr val="833C0B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98080" y="34747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ChoukyouTime</a:t>
            </a:r>
            <a:endParaRPr lang="en-US" sz="800" dirty="0"/>
          </a:p>
        </p:txBody>
      </p:sp>
      <p:sp>
        <p:nvSpPr>
          <p:cNvPr id="107" name="Text 105"/>
          <p:cNvSpPr/>
          <p:nvPr/>
        </p:nvSpPr>
        <p:spPr>
          <a:xfrm>
            <a:off x="7543800" y="368503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ChoukyouRirekiId</a:t>
            </a:r>
            <a:endParaRPr lang="en-US" sz="650" dirty="0"/>
          </a:p>
        </p:txBody>
      </p:sp>
      <p:sp>
        <p:nvSpPr>
          <p:cNvPr id="108" name="Shape 106"/>
          <p:cNvSpPr/>
          <p:nvPr/>
        </p:nvSpPr>
        <p:spPr>
          <a:xfrm>
            <a:off x="182880" y="173736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82880" y="1737360"/>
            <a:ext cx="1280160" cy="20116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182880" y="173736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ImportFile</a:t>
            </a:r>
            <a:endParaRPr lang="en-US" sz="800" dirty="0"/>
          </a:p>
        </p:txBody>
      </p:sp>
      <p:sp>
        <p:nvSpPr>
          <p:cNvPr id="111" name="Text 109"/>
          <p:cNvSpPr/>
          <p:nvPr/>
        </p:nvSpPr>
        <p:spPr>
          <a:xfrm>
            <a:off x="228600" y="194767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</p:txBody>
      </p:sp>
      <p:sp>
        <p:nvSpPr>
          <p:cNvPr id="112" name="Shape 110"/>
          <p:cNvSpPr/>
          <p:nvPr/>
        </p:nvSpPr>
        <p:spPr>
          <a:xfrm>
            <a:off x="182880" y="260604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182880" y="2606040"/>
            <a:ext cx="1280160" cy="20116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182880" y="26060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ImportLog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228600" y="281635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FK ImportFileId</a:t>
            </a:r>
            <a:endParaRPr lang="en-US" sz="650" dirty="0"/>
          </a:p>
        </p:txBody>
      </p:sp>
      <p:sp>
        <p:nvSpPr>
          <p:cNvPr id="116" name="Shape 114"/>
          <p:cNvSpPr/>
          <p:nvPr/>
        </p:nvSpPr>
        <p:spPr>
          <a:xfrm>
            <a:off x="182880" y="347472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82880" y="3474720"/>
            <a:ext cx="1280160" cy="20116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82880" y="34747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Japanize</a:t>
            </a:r>
            <a:endParaRPr lang="en-US" sz="800" dirty="0"/>
          </a:p>
        </p:txBody>
      </p:sp>
      <p:sp>
        <p:nvSpPr>
          <p:cNvPr id="119" name="Text 117"/>
          <p:cNvSpPr/>
          <p:nvPr/>
        </p:nvSpPr>
        <p:spPr>
          <a:xfrm>
            <a:off x="228600" y="368503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Domain（推定→Code.Domain）</a:t>
            </a:r>
            <a:endParaRPr lang="en-US" sz="650" dirty="0"/>
          </a:p>
        </p:txBody>
      </p:sp>
      <p:sp>
        <p:nvSpPr>
          <p:cNvPr id="120" name="Shape 118"/>
          <p:cNvSpPr/>
          <p:nvPr/>
        </p:nvSpPr>
        <p:spPr>
          <a:xfrm>
            <a:off x="1645920" y="347472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645920" y="3474720"/>
            <a:ext cx="1280160" cy="20116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645920" y="34747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Code</a:t>
            </a:r>
            <a:endParaRPr lang="en-US" sz="800" dirty="0"/>
          </a:p>
        </p:txBody>
      </p:sp>
      <p:sp>
        <p:nvSpPr>
          <p:cNvPr id="123" name="Text 121"/>
          <p:cNvSpPr/>
          <p:nvPr/>
        </p:nvSpPr>
        <p:spPr>
          <a:xfrm>
            <a:off x="1691640" y="368503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Domain, Key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コード値の定義</a:t>
            </a:r>
            <a:endParaRPr lang="en-US" sz="650" dirty="0"/>
          </a:p>
        </p:txBody>
      </p:sp>
      <p:sp>
        <p:nvSpPr>
          <p:cNvPr id="124" name="Shape 122"/>
          <p:cNvSpPr/>
          <p:nvPr/>
        </p:nvSpPr>
        <p:spPr>
          <a:xfrm>
            <a:off x="3108960" y="260604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108960" y="2606040"/>
            <a:ext cx="12801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3108960" y="26060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Kyousouba</a:t>
            </a:r>
            <a:endParaRPr lang="en-US" sz="800" dirty="0"/>
          </a:p>
        </p:txBody>
      </p:sp>
      <p:sp>
        <p:nvSpPr>
          <p:cNvPr id="127" name="Text 125"/>
          <p:cNvSpPr/>
          <p:nvPr/>
        </p:nvSpPr>
        <p:spPr>
          <a:xfrm>
            <a:off x="3154680" y="281635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 (TEXT)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KyuushaId（推定）</a:t>
            </a:r>
            <a:endParaRPr lang="en-US" sz="650" dirty="0"/>
          </a:p>
        </p:txBody>
      </p:sp>
      <p:sp>
        <p:nvSpPr>
          <p:cNvPr id="128" name="Shape 126"/>
          <p:cNvSpPr/>
          <p:nvPr/>
        </p:nvSpPr>
        <p:spPr>
          <a:xfrm>
            <a:off x="3108960" y="347472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3108960" y="3474720"/>
            <a:ext cx="12801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108960" y="34747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Kyuusha</a:t>
            </a:r>
            <a:endParaRPr lang="en-US" sz="800" dirty="0"/>
          </a:p>
        </p:txBody>
      </p:sp>
      <p:sp>
        <p:nvSpPr>
          <p:cNvPr id="131" name="Text 129"/>
          <p:cNvSpPr/>
          <p:nvPr/>
        </p:nvSpPr>
        <p:spPr>
          <a:xfrm>
            <a:off x="3154680" y="368503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</p:txBody>
      </p:sp>
      <p:sp>
        <p:nvSpPr>
          <p:cNvPr id="132" name="Shape 130"/>
          <p:cNvSpPr/>
          <p:nvPr/>
        </p:nvSpPr>
        <p:spPr>
          <a:xfrm>
            <a:off x="4572000" y="347472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572000" y="3474720"/>
            <a:ext cx="12801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572000" y="34747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Kishu</a:t>
            </a:r>
            <a:endParaRPr lang="en-US" sz="800" dirty="0"/>
          </a:p>
        </p:txBody>
      </p:sp>
      <p:sp>
        <p:nvSpPr>
          <p:cNvPr id="135" name="Text 133"/>
          <p:cNvSpPr/>
          <p:nvPr/>
        </p:nvSpPr>
        <p:spPr>
          <a:xfrm>
            <a:off x="4617720" y="368503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Id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KishuShozokuKyuushaId（推定）</a:t>
            </a:r>
            <a:endParaRPr lang="en-US" sz="650" dirty="0"/>
          </a:p>
        </p:txBody>
      </p:sp>
      <p:sp>
        <p:nvSpPr>
          <p:cNvPr id="136" name="Shape 134"/>
          <p:cNvSpPr/>
          <p:nvPr/>
        </p:nvSpPr>
        <p:spPr>
          <a:xfrm>
            <a:off x="6035040" y="3474720"/>
            <a:ext cx="1280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6035040" y="3474720"/>
            <a:ext cx="1280160" cy="20116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6035040" y="34747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UserSQL</a:t>
            </a:r>
            <a:endParaRPr lang="en-US" sz="800" dirty="0"/>
          </a:p>
        </p:txBody>
      </p:sp>
      <p:sp>
        <p:nvSpPr>
          <p:cNvPr id="139" name="Text 137"/>
          <p:cNvSpPr/>
          <p:nvPr/>
        </p:nvSpPr>
        <p:spPr>
          <a:xfrm>
            <a:off x="6080760" y="368503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PK Domain, Name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インポート後に実行するSQL</a:t>
            </a:r>
            <a:endParaRPr lang="en-US" sz="650" dirty="0"/>
          </a:p>
        </p:txBody>
      </p:sp>
      <p:sp>
        <p:nvSpPr>
          <p:cNvPr id="140" name="Text 138"/>
          <p:cNvSpPr/>
          <p:nvPr/>
        </p:nvSpPr>
        <p:spPr>
          <a:xfrm>
            <a:off x="1554480" y="100584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41" name="Text 139"/>
          <p:cNvSpPr/>
          <p:nvPr/>
        </p:nvSpPr>
        <p:spPr>
          <a:xfrm>
            <a:off x="1463040" y="100584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42" name="Text 140"/>
          <p:cNvSpPr/>
          <p:nvPr/>
        </p:nvSpPr>
        <p:spPr>
          <a:xfrm>
            <a:off x="3017520" y="18745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43" name="Text 141"/>
          <p:cNvSpPr/>
          <p:nvPr/>
        </p:nvSpPr>
        <p:spPr>
          <a:xfrm>
            <a:off x="2926080" y="100584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44" name="Text 142"/>
          <p:cNvSpPr/>
          <p:nvPr/>
        </p:nvSpPr>
        <p:spPr>
          <a:xfrm>
            <a:off x="3017520" y="18745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45" name="Text 143"/>
          <p:cNvSpPr/>
          <p:nvPr/>
        </p:nvSpPr>
        <p:spPr>
          <a:xfrm>
            <a:off x="2926080" y="18745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46" name="Text 144"/>
          <p:cNvSpPr/>
          <p:nvPr/>
        </p:nvSpPr>
        <p:spPr>
          <a:xfrm>
            <a:off x="3017520" y="18745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926080" y="274320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48" name="Text 146"/>
          <p:cNvSpPr/>
          <p:nvPr/>
        </p:nvSpPr>
        <p:spPr>
          <a:xfrm>
            <a:off x="4389120" y="18745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49" name="Text 147"/>
          <p:cNvSpPr/>
          <p:nvPr/>
        </p:nvSpPr>
        <p:spPr>
          <a:xfrm>
            <a:off x="4480560" y="100584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50" name="Text 148"/>
          <p:cNvSpPr/>
          <p:nvPr/>
        </p:nvSpPr>
        <p:spPr>
          <a:xfrm>
            <a:off x="4389120" y="18745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51" name="Text 149"/>
          <p:cNvSpPr/>
          <p:nvPr/>
        </p:nvSpPr>
        <p:spPr>
          <a:xfrm>
            <a:off x="4480560" y="274320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52" name="Text 150"/>
          <p:cNvSpPr/>
          <p:nvPr/>
        </p:nvSpPr>
        <p:spPr>
          <a:xfrm>
            <a:off x="4389120" y="18745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5943600" y="18745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5852160" y="100584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55" name="Text 153"/>
          <p:cNvSpPr/>
          <p:nvPr/>
        </p:nvSpPr>
        <p:spPr>
          <a:xfrm>
            <a:off x="5943600" y="100584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6720840" y="159105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57" name="Text 155"/>
          <p:cNvSpPr/>
          <p:nvPr/>
        </p:nvSpPr>
        <p:spPr>
          <a:xfrm>
            <a:off x="6720840" y="145389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58" name="Text 156"/>
          <p:cNvSpPr/>
          <p:nvPr/>
        </p:nvSpPr>
        <p:spPr>
          <a:xfrm>
            <a:off x="5852160" y="274320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5943600" y="274320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60" name="Text 158"/>
          <p:cNvSpPr/>
          <p:nvPr/>
        </p:nvSpPr>
        <p:spPr>
          <a:xfrm>
            <a:off x="6720840" y="232257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61" name="Text 159"/>
          <p:cNvSpPr/>
          <p:nvPr/>
        </p:nvSpPr>
        <p:spPr>
          <a:xfrm>
            <a:off x="6720840" y="245973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7315200" y="18745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63" name="Text 161"/>
          <p:cNvSpPr/>
          <p:nvPr/>
        </p:nvSpPr>
        <p:spPr>
          <a:xfrm>
            <a:off x="7406640" y="100584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64" name="Text 162"/>
          <p:cNvSpPr/>
          <p:nvPr/>
        </p:nvSpPr>
        <p:spPr>
          <a:xfrm>
            <a:off x="7315200" y="18745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7406640" y="18745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8183880" y="232257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67" name="Text 165"/>
          <p:cNvSpPr/>
          <p:nvPr/>
        </p:nvSpPr>
        <p:spPr>
          <a:xfrm>
            <a:off x="8183880" y="245973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68" name="Text 166"/>
          <p:cNvSpPr/>
          <p:nvPr/>
        </p:nvSpPr>
        <p:spPr>
          <a:xfrm>
            <a:off x="8183880" y="319125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69" name="Text 167"/>
          <p:cNvSpPr/>
          <p:nvPr/>
        </p:nvSpPr>
        <p:spPr>
          <a:xfrm>
            <a:off x="8183880" y="33284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70" name="Text 168"/>
          <p:cNvSpPr/>
          <p:nvPr/>
        </p:nvSpPr>
        <p:spPr>
          <a:xfrm>
            <a:off x="868680" y="232257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71" name="Text 169"/>
          <p:cNvSpPr/>
          <p:nvPr/>
        </p:nvSpPr>
        <p:spPr>
          <a:xfrm>
            <a:off x="868680" y="245973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72" name="Text 170"/>
          <p:cNvSpPr/>
          <p:nvPr/>
        </p:nvSpPr>
        <p:spPr>
          <a:xfrm>
            <a:off x="4389120" y="274320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73" name="Text 171"/>
          <p:cNvSpPr/>
          <p:nvPr/>
        </p:nvSpPr>
        <p:spPr>
          <a:xfrm>
            <a:off x="5943600" y="196596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74" name="Text 172"/>
          <p:cNvSpPr/>
          <p:nvPr/>
        </p:nvSpPr>
        <p:spPr>
          <a:xfrm>
            <a:off x="5852160" y="361188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75" name="Text 173"/>
          <p:cNvSpPr/>
          <p:nvPr/>
        </p:nvSpPr>
        <p:spPr>
          <a:xfrm>
            <a:off x="5943600" y="2029968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76" name="Text 174"/>
          <p:cNvSpPr/>
          <p:nvPr/>
        </p:nvSpPr>
        <p:spPr>
          <a:xfrm>
            <a:off x="4389120" y="361188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77" name="Text 175"/>
          <p:cNvSpPr/>
          <p:nvPr/>
        </p:nvSpPr>
        <p:spPr>
          <a:xfrm>
            <a:off x="5943600" y="209397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78" name="Text 176"/>
          <p:cNvSpPr/>
          <p:nvPr/>
        </p:nvSpPr>
        <p:spPr>
          <a:xfrm>
            <a:off x="3794760" y="33284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79" name="Text 177"/>
          <p:cNvSpPr/>
          <p:nvPr/>
        </p:nvSpPr>
        <p:spPr>
          <a:xfrm>
            <a:off x="3794760" y="319125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80" name="Text 178"/>
          <p:cNvSpPr/>
          <p:nvPr/>
        </p:nvSpPr>
        <p:spPr>
          <a:xfrm>
            <a:off x="4389120" y="361188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81" name="Text 179"/>
          <p:cNvSpPr/>
          <p:nvPr/>
        </p:nvSpPr>
        <p:spPr>
          <a:xfrm>
            <a:off x="4480560" y="37033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82" name="Text 180"/>
          <p:cNvSpPr/>
          <p:nvPr/>
        </p:nvSpPr>
        <p:spPr>
          <a:xfrm>
            <a:off x="1554480" y="361188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83" name="Text 181"/>
          <p:cNvSpPr/>
          <p:nvPr/>
        </p:nvSpPr>
        <p:spPr>
          <a:xfrm>
            <a:off x="1463040" y="3703320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84" name="Text 182"/>
          <p:cNvSpPr/>
          <p:nvPr/>
        </p:nvSpPr>
        <p:spPr>
          <a:xfrm>
            <a:off x="274320" y="461772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凡例: 1 = 親側、N = 子側（1対多）。橙の破線 = 子の PK が親の Id を兼ねる 1対1。青の点線 = FK 制約が無く、列名（KyousoubaId・KishuId・KyuushaId・KishuShozokuKyuushaId・Domain）から推定した関連。Code は各テーブルのコード列（例: KishuTouzaiBetsu）の値を定義するが列ごとの制約は無く、UserSQL は Domain（処理名）で呼ばれるSQLの置き場で、テーブルとの関連は無い。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09728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KeibaDataImporter ER図（論理）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SQLite（keiba.sqlite）/ TypeORM / 34エンティティ。外部キー制約は無く、*Id 列と Id 共有による論理的な関連を図示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708660" y="1097280"/>
            <a:ext cx="0" cy="18288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234440" y="9601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6444" y="960120"/>
            <a:ext cx="0" cy="16002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66444" y="2560320"/>
            <a:ext cx="1600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34440" y="1874520"/>
            <a:ext cx="6400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98448" y="1874520"/>
            <a:ext cx="0" cy="6858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98448" y="2560320"/>
            <a:ext cx="12801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30452" y="2560320"/>
            <a:ext cx="96012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1330452" y="2331720"/>
            <a:ext cx="0" cy="22860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1234440" y="2331720"/>
            <a:ext cx="96012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330452" y="2560320"/>
            <a:ext cx="9601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30452" y="2560320"/>
            <a:ext cx="0" cy="2286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34440" y="2788920"/>
            <a:ext cx="9601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30452" y="2560320"/>
            <a:ext cx="9601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30452" y="2560320"/>
            <a:ext cx="0" cy="6858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34440" y="3246120"/>
            <a:ext cx="9601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30452" y="2560320"/>
            <a:ext cx="9601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30452" y="2560320"/>
            <a:ext cx="0" cy="11430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34440" y="3703320"/>
            <a:ext cx="9601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8660" y="3840480"/>
            <a:ext cx="0" cy="1828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52244" y="2697480"/>
            <a:ext cx="0" cy="4114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78024" y="25603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10028" y="1874520"/>
            <a:ext cx="0" cy="6858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10028" y="1874520"/>
            <a:ext cx="1600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478024" y="25603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10028" y="2560320"/>
            <a:ext cx="0" cy="6858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10028" y="3246120"/>
            <a:ext cx="1600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478024" y="25603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10028" y="2560320"/>
            <a:ext cx="14036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1608" y="18745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53612" y="1417320"/>
            <a:ext cx="0" cy="4572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53612" y="1417320"/>
            <a:ext cx="14036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192" y="25603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997196" y="1417320"/>
            <a:ext cx="0" cy="11430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97196" y="1417320"/>
            <a:ext cx="1600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1608" y="3246120"/>
            <a:ext cx="6400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85616" y="3246120"/>
            <a:ext cx="0" cy="9144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85616" y="4160520"/>
            <a:ext cx="13716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65192" y="25603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97196" y="2560320"/>
            <a:ext cx="0" cy="16002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97196" y="4160520"/>
            <a:ext cx="1600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965192" y="2560320"/>
            <a:ext cx="320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997196" y="1874520"/>
            <a:ext cx="0" cy="68580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997196" y="1874520"/>
            <a:ext cx="16002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4965192" y="2560320"/>
            <a:ext cx="320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4997196" y="2331720"/>
            <a:ext cx="0" cy="22860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4997196" y="2331720"/>
            <a:ext cx="16002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4965192" y="2560320"/>
            <a:ext cx="320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4997196" y="2560320"/>
            <a:ext cx="0" cy="22860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4997196" y="2788920"/>
            <a:ext cx="16002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4965192" y="25603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997196" y="2560320"/>
            <a:ext cx="0" cy="6858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97196" y="3246120"/>
            <a:ext cx="1600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965192" y="25603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97196" y="2560320"/>
            <a:ext cx="0" cy="11430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97196" y="3703320"/>
            <a:ext cx="1600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65192" y="25603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97196" y="960120"/>
            <a:ext cx="0" cy="16002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997196" y="960120"/>
            <a:ext cx="1600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439412" y="2697480"/>
            <a:ext cx="0" cy="8686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721608" y="3703320"/>
            <a:ext cx="9601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817620" y="3703320"/>
            <a:ext cx="9601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542032" y="3703320"/>
            <a:ext cx="12801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478024" y="3703320"/>
            <a:ext cx="6400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40780" y="2331720"/>
            <a:ext cx="1600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08776" y="23317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439412" y="1097280"/>
            <a:ext cx="0" cy="13258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721608" y="4160520"/>
            <a:ext cx="12801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849624" y="2560320"/>
            <a:ext cx="0" cy="16002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849624" y="2560320"/>
            <a:ext cx="6400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721608" y="960120"/>
            <a:ext cx="1600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881628" y="960120"/>
            <a:ext cx="0" cy="16002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881628" y="25603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721608" y="1417320"/>
            <a:ext cx="19202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913632" y="960120"/>
            <a:ext cx="0" cy="4572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721608" y="960120"/>
            <a:ext cx="1600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881628" y="9601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574036" y="1417320"/>
            <a:ext cx="9601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478024" y="1417320"/>
            <a:ext cx="9601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952244" y="1554480"/>
            <a:ext cx="0" cy="1828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606040" y="4160520"/>
            <a:ext cx="6400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478024" y="4160520"/>
            <a:ext cx="12801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638044" y="960120"/>
            <a:ext cx="320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478024" y="960120"/>
            <a:ext cx="1600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286000" y="118872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286000" y="1188720"/>
            <a:ext cx="534924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7635240" y="1188720"/>
            <a:ext cx="0" cy="20574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6208776" y="3246120"/>
            <a:ext cx="142646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82880" y="8229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7F600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82880" y="822960"/>
            <a:ext cx="1051560" cy="201168"/>
          </a:xfrm>
          <a:prstGeom prst="rect">
            <a:avLst/>
          </a:prstGeom>
          <a:solidFill>
            <a:srgbClr val="7F6000"/>
          </a:solidFill>
          <a:ln w="12700">
            <a:solidFill>
              <a:srgbClr val="7F6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82880" y="8229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Kaisai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182880" y="12801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7F600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82880" y="1280160"/>
            <a:ext cx="1051560" cy="201168"/>
          </a:xfrm>
          <a:prstGeom prst="rect">
            <a:avLst/>
          </a:prstGeom>
          <a:solidFill>
            <a:srgbClr val="7F6000"/>
          </a:solidFill>
          <a:ln w="12700">
            <a:solidFill>
              <a:srgbClr val="7F600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82880" y="1280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KaisaiYosou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182880" y="17373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82880" y="1737360"/>
            <a:ext cx="10515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82880" y="17373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Record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182880" y="21945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82880" y="2194560"/>
            <a:ext cx="10515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82880" y="21945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RaceSeiseki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182880" y="26517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82880" y="2651760"/>
            <a:ext cx="10515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82880" y="26517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RaceTrackBias</a:t>
            </a:r>
            <a:endParaRPr lang="en-US" sz="800" dirty="0"/>
          </a:p>
        </p:txBody>
      </p:sp>
      <p:sp>
        <p:nvSpPr>
          <p:cNvPr id="103" name="Shape 101"/>
          <p:cNvSpPr/>
          <p:nvPr/>
        </p:nvSpPr>
        <p:spPr>
          <a:xfrm>
            <a:off x="182880" y="31089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7F600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82880" y="3108960"/>
            <a:ext cx="1051560" cy="201168"/>
          </a:xfrm>
          <a:prstGeom prst="rect">
            <a:avLst/>
          </a:prstGeom>
          <a:solidFill>
            <a:srgbClr val="7F6000"/>
          </a:solidFill>
          <a:ln w="12700">
            <a:solidFill>
              <a:srgbClr val="7F600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82880" y="31089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OddsHaitou</a:t>
            </a:r>
            <a:endParaRPr lang="en-US" sz="800" dirty="0"/>
          </a:p>
        </p:txBody>
      </p:sp>
      <p:sp>
        <p:nvSpPr>
          <p:cNvPr id="106" name="Shape 104"/>
          <p:cNvSpPr/>
          <p:nvPr/>
        </p:nvSpPr>
        <p:spPr>
          <a:xfrm>
            <a:off x="182880" y="35661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82880" y="3566160"/>
            <a:ext cx="10515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82880" y="3566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RaceMei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182880" y="40233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182880" y="4023360"/>
            <a:ext cx="10515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82880" y="40233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TokubetsuMei</a:t>
            </a:r>
            <a:endParaRPr lang="en-US" sz="800" dirty="0"/>
          </a:p>
        </p:txBody>
      </p:sp>
      <p:sp>
        <p:nvSpPr>
          <p:cNvPr id="112" name="Shape 110"/>
          <p:cNvSpPr/>
          <p:nvPr/>
        </p:nvSpPr>
        <p:spPr>
          <a:xfrm>
            <a:off x="1426464" y="8229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1426464" y="822960"/>
            <a:ext cx="10515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1426464" y="8229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ChoukyoushiMei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1426464" y="12801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33C0B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426464" y="1280160"/>
            <a:ext cx="1051560" cy="201168"/>
          </a:xfrm>
          <a:prstGeom prst="rect">
            <a:avLst/>
          </a:prstGeom>
          <a:solidFill>
            <a:srgbClr val="833C0B"/>
          </a:solidFill>
          <a:ln w="12700">
            <a:solidFill>
              <a:srgbClr val="833C0B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426464" y="1280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Choukyou</a:t>
            </a:r>
            <a:endParaRPr lang="en-US" sz="800" dirty="0"/>
          </a:p>
        </p:txBody>
      </p:sp>
      <p:sp>
        <p:nvSpPr>
          <p:cNvPr id="118" name="Shape 116"/>
          <p:cNvSpPr/>
          <p:nvPr/>
        </p:nvSpPr>
        <p:spPr>
          <a:xfrm>
            <a:off x="1426464" y="17373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33C0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1426464" y="1737360"/>
            <a:ext cx="1051560" cy="201168"/>
          </a:xfrm>
          <a:prstGeom prst="rect">
            <a:avLst/>
          </a:prstGeom>
          <a:solidFill>
            <a:srgbClr val="833C0B"/>
          </a:solidFill>
          <a:ln w="12700">
            <a:solidFill>
              <a:srgbClr val="833C0B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426464" y="17373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ChoukyouTime</a:t>
            </a:r>
            <a:endParaRPr lang="en-US" sz="800" dirty="0"/>
          </a:p>
        </p:txBody>
      </p:sp>
      <p:sp>
        <p:nvSpPr>
          <p:cNvPr id="121" name="Shape 119"/>
          <p:cNvSpPr/>
          <p:nvPr/>
        </p:nvSpPr>
        <p:spPr>
          <a:xfrm>
            <a:off x="1426464" y="24231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1426464" y="2423160"/>
            <a:ext cx="10515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426464" y="2423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Race</a:t>
            </a:r>
            <a:endParaRPr lang="en-US" sz="800" dirty="0"/>
          </a:p>
        </p:txBody>
      </p:sp>
      <p:sp>
        <p:nvSpPr>
          <p:cNvPr id="124" name="Shape 122"/>
          <p:cNvSpPr/>
          <p:nvPr/>
        </p:nvSpPr>
        <p:spPr>
          <a:xfrm>
            <a:off x="1426464" y="31089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426464" y="3108960"/>
            <a:ext cx="10515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426464" y="31089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RaceLapTime</a:t>
            </a:r>
            <a:endParaRPr lang="en-US" sz="800" dirty="0"/>
          </a:p>
        </p:txBody>
      </p:sp>
      <p:sp>
        <p:nvSpPr>
          <p:cNvPr id="127" name="Shape 125"/>
          <p:cNvSpPr/>
          <p:nvPr/>
        </p:nvSpPr>
        <p:spPr>
          <a:xfrm>
            <a:off x="1426464" y="35661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426464" y="3566160"/>
            <a:ext cx="10515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1426464" y="3566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Seisansha</a:t>
            </a:r>
            <a:endParaRPr lang="en-US" sz="800" dirty="0"/>
          </a:p>
        </p:txBody>
      </p:sp>
      <p:sp>
        <p:nvSpPr>
          <p:cNvPr id="130" name="Shape 128"/>
          <p:cNvSpPr/>
          <p:nvPr/>
        </p:nvSpPr>
        <p:spPr>
          <a:xfrm>
            <a:off x="1426464" y="40233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1426464" y="4023360"/>
            <a:ext cx="10515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1426464" y="40233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KishuMei</a:t>
            </a:r>
            <a:endParaRPr lang="en-US" sz="800" dirty="0"/>
          </a:p>
        </p:txBody>
      </p:sp>
      <p:sp>
        <p:nvSpPr>
          <p:cNvPr id="133" name="Shape 131"/>
          <p:cNvSpPr/>
          <p:nvPr/>
        </p:nvSpPr>
        <p:spPr>
          <a:xfrm>
            <a:off x="2670048" y="8229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670048" y="822960"/>
            <a:ext cx="10515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2670048" y="8229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Choukyoushi</a:t>
            </a:r>
            <a:endParaRPr lang="en-US" sz="800" dirty="0"/>
          </a:p>
        </p:txBody>
      </p:sp>
      <p:sp>
        <p:nvSpPr>
          <p:cNvPr id="136" name="Shape 134"/>
          <p:cNvSpPr/>
          <p:nvPr/>
        </p:nvSpPr>
        <p:spPr>
          <a:xfrm>
            <a:off x="2670048" y="12801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670048" y="1280160"/>
            <a:ext cx="10515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2670048" y="1280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Uma</a:t>
            </a:r>
            <a:endParaRPr lang="en-US" sz="800" dirty="0"/>
          </a:p>
        </p:txBody>
      </p:sp>
      <p:sp>
        <p:nvSpPr>
          <p:cNvPr id="139" name="Shape 137"/>
          <p:cNvSpPr/>
          <p:nvPr/>
        </p:nvSpPr>
        <p:spPr>
          <a:xfrm>
            <a:off x="2670048" y="17373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2670048" y="1737360"/>
            <a:ext cx="10515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2670048" y="17373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RaceKeika</a:t>
            </a:r>
            <a:endParaRPr lang="en-US" sz="800" dirty="0"/>
          </a:p>
        </p:txBody>
      </p:sp>
      <p:sp>
        <p:nvSpPr>
          <p:cNvPr id="142" name="Shape 140"/>
          <p:cNvSpPr/>
          <p:nvPr/>
        </p:nvSpPr>
        <p:spPr>
          <a:xfrm>
            <a:off x="2670048" y="31089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670048" y="3108960"/>
            <a:ext cx="1051560" cy="2011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2670048" y="31089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RaceHassouJoukyou</a:t>
            </a:r>
            <a:endParaRPr lang="en-US" sz="800" dirty="0"/>
          </a:p>
        </p:txBody>
      </p:sp>
      <p:sp>
        <p:nvSpPr>
          <p:cNvPr id="145" name="Shape 143"/>
          <p:cNvSpPr/>
          <p:nvPr/>
        </p:nvSpPr>
        <p:spPr>
          <a:xfrm>
            <a:off x="2670048" y="35661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670048" y="3566160"/>
            <a:ext cx="10515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2670048" y="3566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Shoyuu</a:t>
            </a:r>
            <a:endParaRPr lang="en-US" sz="800" dirty="0"/>
          </a:p>
        </p:txBody>
      </p:sp>
      <p:sp>
        <p:nvSpPr>
          <p:cNvPr id="148" name="Shape 146"/>
          <p:cNvSpPr/>
          <p:nvPr/>
        </p:nvSpPr>
        <p:spPr>
          <a:xfrm>
            <a:off x="2670048" y="40233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670048" y="4023360"/>
            <a:ext cx="10515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2670048" y="40233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Kishu</a:t>
            </a:r>
            <a:endParaRPr lang="en-US" sz="800" dirty="0"/>
          </a:p>
        </p:txBody>
      </p:sp>
      <p:sp>
        <p:nvSpPr>
          <p:cNvPr id="151" name="Shape 149"/>
          <p:cNvSpPr/>
          <p:nvPr/>
        </p:nvSpPr>
        <p:spPr>
          <a:xfrm>
            <a:off x="3913632" y="8229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3913632" y="822960"/>
            <a:ext cx="10515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3913632" y="8229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Kyousouba</a:t>
            </a:r>
            <a:endParaRPr lang="en-US" sz="800" dirty="0"/>
          </a:p>
        </p:txBody>
      </p:sp>
      <p:sp>
        <p:nvSpPr>
          <p:cNvPr id="154" name="Shape 152"/>
          <p:cNvSpPr/>
          <p:nvPr/>
        </p:nvSpPr>
        <p:spPr>
          <a:xfrm>
            <a:off x="3913632" y="24231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3913632" y="2423160"/>
            <a:ext cx="10515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3913632" y="2423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</a:t>
            </a:r>
            <a:endParaRPr lang="en-US" sz="800" dirty="0"/>
          </a:p>
        </p:txBody>
      </p:sp>
      <p:sp>
        <p:nvSpPr>
          <p:cNvPr id="157" name="Shape 155"/>
          <p:cNvSpPr/>
          <p:nvPr/>
        </p:nvSpPr>
        <p:spPr>
          <a:xfrm>
            <a:off x="3913632" y="35661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3913632" y="3566160"/>
            <a:ext cx="10515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3913632" y="3566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Banushi</a:t>
            </a:r>
            <a:endParaRPr lang="en-US" sz="800" dirty="0"/>
          </a:p>
        </p:txBody>
      </p:sp>
      <p:sp>
        <p:nvSpPr>
          <p:cNvPr id="160" name="Shape 158"/>
          <p:cNvSpPr/>
          <p:nvPr/>
        </p:nvSpPr>
        <p:spPr>
          <a:xfrm>
            <a:off x="5157216" y="8229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157216" y="822960"/>
            <a:ext cx="10515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5157216" y="8229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ShussoubaTsuukaJuni</a:t>
            </a:r>
            <a:endParaRPr lang="en-US" sz="650" dirty="0"/>
          </a:p>
        </p:txBody>
      </p:sp>
      <p:sp>
        <p:nvSpPr>
          <p:cNvPr id="163" name="Shape 161"/>
          <p:cNvSpPr/>
          <p:nvPr/>
        </p:nvSpPr>
        <p:spPr>
          <a:xfrm>
            <a:off x="5157216" y="12801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157216" y="1280160"/>
            <a:ext cx="10515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5157216" y="1280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ShussoubaKeika</a:t>
            </a:r>
            <a:endParaRPr lang="en-US" sz="800" dirty="0"/>
          </a:p>
        </p:txBody>
      </p:sp>
      <p:sp>
        <p:nvSpPr>
          <p:cNvPr id="166" name="Shape 164"/>
          <p:cNvSpPr/>
          <p:nvPr/>
        </p:nvSpPr>
        <p:spPr>
          <a:xfrm>
            <a:off x="5157216" y="17373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157216" y="1737360"/>
            <a:ext cx="10515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5157216" y="17373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ShussoubaSeiseki</a:t>
            </a:r>
            <a:endParaRPr lang="en-US" sz="800" dirty="0"/>
          </a:p>
        </p:txBody>
      </p:sp>
      <p:sp>
        <p:nvSpPr>
          <p:cNvPr id="169" name="Shape 167"/>
          <p:cNvSpPr/>
          <p:nvPr/>
        </p:nvSpPr>
        <p:spPr>
          <a:xfrm>
            <a:off x="5157216" y="21945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5157216" y="2194560"/>
            <a:ext cx="10515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5157216" y="21945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ShussoubaYosou</a:t>
            </a:r>
            <a:endParaRPr lang="en-US" sz="800" dirty="0"/>
          </a:p>
        </p:txBody>
      </p:sp>
      <p:sp>
        <p:nvSpPr>
          <p:cNvPr id="172" name="Shape 170"/>
          <p:cNvSpPr/>
          <p:nvPr/>
        </p:nvSpPr>
        <p:spPr>
          <a:xfrm>
            <a:off x="5157216" y="26517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5157216" y="2651760"/>
            <a:ext cx="10515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5157216" y="26517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ShussoubaHyouka</a:t>
            </a:r>
            <a:endParaRPr lang="en-US" sz="800" dirty="0"/>
          </a:p>
        </p:txBody>
      </p:sp>
      <p:sp>
        <p:nvSpPr>
          <p:cNvPr id="175" name="Shape 173"/>
          <p:cNvSpPr/>
          <p:nvPr/>
        </p:nvSpPr>
        <p:spPr>
          <a:xfrm>
            <a:off x="5157216" y="31089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5157216" y="3108960"/>
            <a:ext cx="10515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5157216" y="31089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ShussoubaChoukyou</a:t>
            </a:r>
            <a:endParaRPr lang="en-US" sz="800" dirty="0"/>
          </a:p>
        </p:txBody>
      </p:sp>
      <p:sp>
        <p:nvSpPr>
          <p:cNvPr id="178" name="Shape 176"/>
          <p:cNvSpPr/>
          <p:nvPr/>
        </p:nvSpPr>
        <p:spPr>
          <a:xfrm>
            <a:off x="5157216" y="35661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5157216" y="3566160"/>
            <a:ext cx="10515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5157216" y="3566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ShussoubaJoutai</a:t>
            </a:r>
            <a:endParaRPr lang="en-US" sz="800" dirty="0"/>
          </a:p>
        </p:txBody>
      </p:sp>
      <p:sp>
        <p:nvSpPr>
          <p:cNvPr id="181" name="Shape 179"/>
          <p:cNvSpPr/>
          <p:nvPr/>
        </p:nvSpPr>
        <p:spPr>
          <a:xfrm>
            <a:off x="5157216" y="40233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5157216" y="4023360"/>
            <a:ext cx="1051560" cy="20116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5157216" y="40233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ShussoubaHassouJoukyou</a:t>
            </a:r>
            <a:endParaRPr lang="en-US" sz="650" dirty="0"/>
          </a:p>
        </p:txBody>
      </p:sp>
      <p:sp>
        <p:nvSpPr>
          <p:cNvPr id="184" name="Shape 182"/>
          <p:cNvSpPr/>
          <p:nvPr/>
        </p:nvSpPr>
        <p:spPr>
          <a:xfrm>
            <a:off x="6400800" y="21945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6400800" y="2194560"/>
            <a:ext cx="10515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6400800" y="21945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Houbokusaki</a:t>
            </a:r>
            <a:endParaRPr lang="en-US" sz="800" dirty="0"/>
          </a:p>
        </p:txBody>
      </p:sp>
      <p:sp>
        <p:nvSpPr>
          <p:cNvPr id="187" name="Shape 185"/>
          <p:cNvSpPr/>
          <p:nvPr/>
        </p:nvSpPr>
        <p:spPr>
          <a:xfrm>
            <a:off x="6400800" y="822960"/>
            <a:ext cx="1051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6400800" y="822960"/>
            <a:ext cx="1051560" cy="201168"/>
          </a:xfrm>
          <a:prstGeom prst="rect">
            <a:avLst/>
          </a:prstGeom>
          <a:solidFill>
            <a:srgbClr val="5B2C83"/>
          </a:solidFill>
          <a:ln w="12700">
            <a:solidFill>
              <a:srgbClr val="5B2C83"/>
            </a:solidFill>
            <a:prstDash val="solid"/>
          </a:ln>
        </p:spPr>
      </p:sp>
      <p:sp>
        <p:nvSpPr>
          <p:cNvPr id="189" name="Text 187"/>
          <p:cNvSpPr/>
          <p:nvPr/>
        </p:nvSpPr>
        <p:spPr>
          <a:xfrm>
            <a:off x="6400800" y="8229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Jinmei</a:t>
            </a:r>
            <a:endParaRPr lang="en-US" sz="800" dirty="0"/>
          </a:p>
        </p:txBody>
      </p:sp>
      <p:sp>
        <p:nvSpPr>
          <p:cNvPr id="190" name="Text 188"/>
          <p:cNvSpPr/>
          <p:nvPr/>
        </p:nvSpPr>
        <p:spPr>
          <a:xfrm>
            <a:off x="754380" y="1115568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91" name="Text 189"/>
          <p:cNvSpPr/>
          <p:nvPr/>
        </p:nvSpPr>
        <p:spPr>
          <a:xfrm>
            <a:off x="754380" y="113385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92" name="Text 190"/>
          <p:cNvSpPr/>
          <p:nvPr/>
        </p:nvSpPr>
        <p:spPr>
          <a:xfrm>
            <a:off x="1234440" y="813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93" name="Text 191"/>
          <p:cNvSpPr/>
          <p:nvPr/>
        </p:nvSpPr>
        <p:spPr>
          <a:xfrm>
            <a:off x="1335024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94" name="Text 192"/>
          <p:cNvSpPr/>
          <p:nvPr/>
        </p:nvSpPr>
        <p:spPr>
          <a:xfrm>
            <a:off x="1234440" y="17282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95" name="Text 193"/>
          <p:cNvSpPr/>
          <p:nvPr/>
        </p:nvSpPr>
        <p:spPr>
          <a:xfrm>
            <a:off x="1335024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196" name="Text 194"/>
          <p:cNvSpPr/>
          <p:nvPr/>
        </p:nvSpPr>
        <p:spPr>
          <a:xfrm>
            <a:off x="1335024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97" name="Text 195"/>
          <p:cNvSpPr/>
          <p:nvPr/>
        </p:nvSpPr>
        <p:spPr>
          <a:xfrm>
            <a:off x="1234440" y="21854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98" name="Text 196"/>
          <p:cNvSpPr/>
          <p:nvPr/>
        </p:nvSpPr>
        <p:spPr>
          <a:xfrm>
            <a:off x="1335024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199" name="Text 197"/>
          <p:cNvSpPr/>
          <p:nvPr/>
        </p:nvSpPr>
        <p:spPr>
          <a:xfrm>
            <a:off x="1234440" y="26426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00" name="Text 198"/>
          <p:cNvSpPr/>
          <p:nvPr/>
        </p:nvSpPr>
        <p:spPr>
          <a:xfrm>
            <a:off x="1335024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01" name="Text 199"/>
          <p:cNvSpPr/>
          <p:nvPr/>
        </p:nvSpPr>
        <p:spPr>
          <a:xfrm>
            <a:off x="1234440" y="3099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02" name="Text 200"/>
          <p:cNvSpPr/>
          <p:nvPr/>
        </p:nvSpPr>
        <p:spPr>
          <a:xfrm>
            <a:off x="1335024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03" name="Text 201"/>
          <p:cNvSpPr/>
          <p:nvPr/>
        </p:nvSpPr>
        <p:spPr>
          <a:xfrm>
            <a:off x="1234440" y="3557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04" name="Text 202"/>
          <p:cNvSpPr/>
          <p:nvPr/>
        </p:nvSpPr>
        <p:spPr>
          <a:xfrm>
            <a:off x="754380" y="387705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05" name="Text 203"/>
          <p:cNvSpPr/>
          <p:nvPr/>
        </p:nvSpPr>
        <p:spPr>
          <a:xfrm>
            <a:off x="754380" y="3858768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06" name="Text 204"/>
          <p:cNvSpPr/>
          <p:nvPr/>
        </p:nvSpPr>
        <p:spPr>
          <a:xfrm>
            <a:off x="1997964" y="2715768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07" name="Text 205"/>
          <p:cNvSpPr/>
          <p:nvPr/>
        </p:nvSpPr>
        <p:spPr>
          <a:xfrm>
            <a:off x="1997964" y="296265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08" name="Text 206"/>
          <p:cNvSpPr/>
          <p:nvPr/>
        </p:nvSpPr>
        <p:spPr>
          <a:xfrm>
            <a:off x="2478024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09" name="Text 207"/>
          <p:cNvSpPr/>
          <p:nvPr/>
        </p:nvSpPr>
        <p:spPr>
          <a:xfrm>
            <a:off x="2578608" y="17282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10" name="Text 208"/>
          <p:cNvSpPr/>
          <p:nvPr/>
        </p:nvSpPr>
        <p:spPr>
          <a:xfrm>
            <a:off x="2478024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11" name="Text 209"/>
          <p:cNvSpPr/>
          <p:nvPr/>
        </p:nvSpPr>
        <p:spPr>
          <a:xfrm>
            <a:off x="2578608" y="3099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12" name="Text 210"/>
          <p:cNvSpPr/>
          <p:nvPr/>
        </p:nvSpPr>
        <p:spPr>
          <a:xfrm>
            <a:off x="2478024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13" name="Text 211"/>
          <p:cNvSpPr/>
          <p:nvPr/>
        </p:nvSpPr>
        <p:spPr>
          <a:xfrm>
            <a:off x="3822192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14" name="Text 212"/>
          <p:cNvSpPr/>
          <p:nvPr/>
        </p:nvSpPr>
        <p:spPr>
          <a:xfrm>
            <a:off x="3721608" y="17282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15" name="Text 213"/>
          <p:cNvSpPr/>
          <p:nvPr/>
        </p:nvSpPr>
        <p:spPr>
          <a:xfrm>
            <a:off x="5065776" y="1271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16" name="Text 214"/>
          <p:cNvSpPr/>
          <p:nvPr/>
        </p:nvSpPr>
        <p:spPr>
          <a:xfrm>
            <a:off x="4965192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17" name="Text 215"/>
          <p:cNvSpPr/>
          <p:nvPr/>
        </p:nvSpPr>
        <p:spPr>
          <a:xfrm>
            <a:off x="5065776" y="1271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18" name="Text 216"/>
          <p:cNvSpPr/>
          <p:nvPr/>
        </p:nvSpPr>
        <p:spPr>
          <a:xfrm>
            <a:off x="3721608" y="3099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19" name="Text 217"/>
          <p:cNvSpPr/>
          <p:nvPr/>
        </p:nvSpPr>
        <p:spPr>
          <a:xfrm>
            <a:off x="5065776" y="40142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20" name="Text 218"/>
          <p:cNvSpPr/>
          <p:nvPr/>
        </p:nvSpPr>
        <p:spPr>
          <a:xfrm>
            <a:off x="4965192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21" name="Text 219"/>
          <p:cNvSpPr/>
          <p:nvPr/>
        </p:nvSpPr>
        <p:spPr>
          <a:xfrm>
            <a:off x="5065776" y="40142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22" name="Text 220"/>
          <p:cNvSpPr/>
          <p:nvPr/>
        </p:nvSpPr>
        <p:spPr>
          <a:xfrm>
            <a:off x="4965192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23" name="Text 221"/>
          <p:cNvSpPr/>
          <p:nvPr/>
        </p:nvSpPr>
        <p:spPr>
          <a:xfrm>
            <a:off x="5065776" y="17282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24" name="Text 222"/>
          <p:cNvSpPr/>
          <p:nvPr/>
        </p:nvSpPr>
        <p:spPr>
          <a:xfrm>
            <a:off x="4965192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25" name="Text 223"/>
          <p:cNvSpPr/>
          <p:nvPr/>
        </p:nvSpPr>
        <p:spPr>
          <a:xfrm>
            <a:off x="5065776" y="21854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26" name="Text 224"/>
          <p:cNvSpPr/>
          <p:nvPr/>
        </p:nvSpPr>
        <p:spPr>
          <a:xfrm>
            <a:off x="4965192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27" name="Text 225"/>
          <p:cNvSpPr/>
          <p:nvPr/>
        </p:nvSpPr>
        <p:spPr>
          <a:xfrm>
            <a:off x="5065776" y="26426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28" name="Text 226"/>
          <p:cNvSpPr/>
          <p:nvPr/>
        </p:nvSpPr>
        <p:spPr>
          <a:xfrm>
            <a:off x="4965192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29" name="Text 227"/>
          <p:cNvSpPr/>
          <p:nvPr/>
        </p:nvSpPr>
        <p:spPr>
          <a:xfrm>
            <a:off x="5065776" y="3099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30" name="Text 228"/>
          <p:cNvSpPr/>
          <p:nvPr/>
        </p:nvSpPr>
        <p:spPr>
          <a:xfrm>
            <a:off x="4965192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31" name="Text 229"/>
          <p:cNvSpPr/>
          <p:nvPr/>
        </p:nvSpPr>
        <p:spPr>
          <a:xfrm>
            <a:off x="5065776" y="3557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32" name="Text 230"/>
          <p:cNvSpPr/>
          <p:nvPr/>
        </p:nvSpPr>
        <p:spPr>
          <a:xfrm>
            <a:off x="4965192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33" name="Text 231"/>
          <p:cNvSpPr/>
          <p:nvPr/>
        </p:nvSpPr>
        <p:spPr>
          <a:xfrm>
            <a:off x="5065776" y="813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34" name="Text 232"/>
          <p:cNvSpPr/>
          <p:nvPr/>
        </p:nvSpPr>
        <p:spPr>
          <a:xfrm>
            <a:off x="4485132" y="2715768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35" name="Text 233"/>
          <p:cNvSpPr/>
          <p:nvPr/>
        </p:nvSpPr>
        <p:spPr>
          <a:xfrm>
            <a:off x="4485132" y="341985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36" name="Text 234"/>
          <p:cNvSpPr/>
          <p:nvPr/>
        </p:nvSpPr>
        <p:spPr>
          <a:xfrm>
            <a:off x="3721608" y="3557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37" name="Text 235"/>
          <p:cNvSpPr/>
          <p:nvPr/>
        </p:nvSpPr>
        <p:spPr>
          <a:xfrm>
            <a:off x="3822192" y="3557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38" name="Text 236"/>
          <p:cNvSpPr/>
          <p:nvPr/>
        </p:nvSpPr>
        <p:spPr>
          <a:xfrm>
            <a:off x="2578608" y="3557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39" name="Text 237"/>
          <p:cNvSpPr/>
          <p:nvPr/>
        </p:nvSpPr>
        <p:spPr>
          <a:xfrm>
            <a:off x="2478024" y="3557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40" name="Text 238"/>
          <p:cNvSpPr/>
          <p:nvPr/>
        </p:nvSpPr>
        <p:spPr>
          <a:xfrm>
            <a:off x="6309360" y="21854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41" name="Text 239"/>
          <p:cNvSpPr/>
          <p:nvPr/>
        </p:nvSpPr>
        <p:spPr>
          <a:xfrm>
            <a:off x="6208776" y="21854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42" name="Text 240"/>
          <p:cNvSpPr/>
          <p:nvPr/>
        </p:nvSpPr>
        <p:spPr>
          <a:xfrm>
            <a:off x="4485132" y="1243584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43" name="Text 241"/>
          <p:cNvSpPr/>
          <p:nvPr/>
        </p:nvSpPr>
        <p:spPr>
          <a:xfrm>
            <a:off x="4485132" y="227685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44" name="Text 242"/>
          <p:cNvSpPr/>
          <p:nvPr/>
        </p:nvSpPr>
        <p:spPr>
          <a:xfrm>
            <a:off x="3721608" y="40142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45" name="Text 243"/>
          <p:cNvSpPr/>
          <p:nvPr/>
        </p:nvSpPr>
        <p:spPr>
          <a:xfrm>
            <a:off x="3822192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46" name="Text 244"/>
          <p:cNvSpPr/>
          <p:nvPr/>
        </p:nvSpPr>
        <p:spPr>
          <a:xfrm>
            <a:off x="3721608" y="813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47" name="Text 245"/>
          <p:cNvSpPr/>
          <p:nvPr/>
        </p:nvSpPr>
        <p:spPr>
          <a:xfrm>
            <a:off x="3822192" y="2414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48" name="Text 246"/>
          <p:cNvSpPr/>
          <p:nvPr/>
        </p:nvSpPr>
        <p:spPr>
          <a:xfrm>
            <a:off x="3721608" y="1271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49" name="Text 247"/>
          <p:cNvSpPr/>
          <p:nvPr/>
        </p:nvSpPr>
        <p:spPr>
          <a:xfrm>
            <a:off x="3822192" y="813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50" name="Text 248"/>
          <p:cNvSpPr/>
          <p:nvPr/>
        </p:nvSpPr>
        <p:spPr>
          <a:xfrm>
            <a:off x="3721608" y="813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51" name="Text 249"/>
          <p:cNvSpPr/>
          <p:nvPr/>
        </p:nvSpPr>
        <p:spPr>
          <a:xfrm>
            <a:off x="3822192" y="813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52" name="Text 250"/>
          <p:cNvSpPr/>
          <p:nvPr/>
        </p:nvSpPr>
        <p:spPr>
          <a:xfrm>
            <a:off x="2578608" y="1271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53" name="Text 251"/>
          <p:cNvSpPr/>
          <p:nvPr/>
        </p:nvSpPr>
        <p:spPr>
          <a:xfrm>
            <a:off x="2478024" y="12710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54" name="Text 252"/>
          <p:cNvSpPr/>
          <p:nvPr/>
        </p:nvSpPr>
        <p:spPr>
          <a:xfrm>
            <a:off x="1997964" y="1572768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55" name="Text 253"/>
          <p:cNvSpPr/>
          <p:nvPr/>
        </p:nvSpPr>
        <p:spPr>
          <a:xfrm>
            <a:off x="1997964" y="159105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56" name="Text 254"/>
          <p:cNvSpPr/>
          <p:nvPr/>
        </p:nvSpPr>
        <p:spPr>
          <a:xfrm>
            <a:off x="2578608" y="40142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57" name="Text 255"/>
          <p:cNvSpPr/>
          <p:nvPr/>
        </p:nvSpPr>
        <p:spPr>
          <a:xfrm>
            <a:off x="2478024" y="40142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58" name="Text 256"/>
          <p:cNvSpPr/>
          <p:nvPr/>
        </p:nvSpPr>
        <p:spPr>
          <a:xfrm>
            <a:off x="2578608" y="813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59" name="Text 257"/>
          <p:cNvSpPr/>
          <p:nvPr/>
        </p:nvSpPr>
        <p:spPr>
          <a:xfrm>
            <a:off x="2478024" y="813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65" name="Text 263"/>
          <p:cNvSpPr/>
          <p:nvPr/>
        </p:nvSpPr>
        <p:spPr>
          <a:xfrm>
            <a:off x="2304288" y="1147572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650" dirty="0"/>
          </a:p>
        </p:txBody>
      </p:sp>
      <p:sp>
        <p:nvSpPr>
          <p:cNvPr id="266" name="Text 264"/>
          <p:cNvSpPr/>
          <p:nvPr/>
        </p:nvSpPr>
        <p:spPr>
          <a:xfrm>
            <a:off x="6217920" y="3099816"/>
            <a:ext cx="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650" dirty="0"/>
          </a:p>
        </p:txBody>
      </p:sp>
      <p:sp>
        <p:nvSpPr>
          <p:cNvPr id="260" name="Text 258"/>
          <p:cNvSpPr/>
          <p:nvPr/>
        </p:nvSpPr>
        <p:spPr>
          <a:xfrm>
            <a:off x="274320" y="461772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凡例: 1 = 参照される側、N = 参照する側。橙の破線 = 子の PK が親の Id を共有する 1対1（例: ShussoubaSeiseki.Id = Shussouba.Id）。図に線を引いていない参照: Jinmei → KishuMei / ChoukyoushiMei、Uma → Record / Seisansha、Uma の父母（ChichiUmaId / HahaUmaId）の自己参照、Choukyou.AwaseUmaId → Uma、Record・Choukyou.TanshukuKishuMeiId → KishuMei、Shussouba.KishuShozokuChoukyoushiId → Choukyoushi。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競馬データベース ER図</dc:title>
  <dc:subject>PptxGenJS Presentation</dc:subject>
  <dc:creator>PptxGenJS</dc:creator>
  <cp:lastModifiedBy>PptxGenJS</cp:lastModifiedBy>
  <cp:revision>1</cp:revision>
  <dcterms:created xsi:type="dcterms:W3CDTF">2026-10-10T10:50:20Z</dcterms:created>
  <dcterms:modified xsi:type="dcterms:W3CDTF">2026-10-10T10:50:20Z</dcterms:modified>
</cp:coreProperties>
</file>